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Shape 2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olo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e e data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Autore e data</a:t>
            </a:r>
          </a:p>
        </p:txBody>
      </p:sp>
      <p:sp>
        <p:nvSpPr>
          <p:cNvPr id="12" name="Titolo presentazion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Titolo presentazione</a:t>
            </a:r>
          </a:p>
        </p:txBody>
      </p:sp>
      <p:sp>
        <p:nvSpPr>
          <p:cNvPr id="13" name="Corpo livello uno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rimo piano della parte superiore di una mongolfiera vista dall’alto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olo presentazion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Titolo presentazione</a:t>
            </a:r>
          </a:p>
        </p:txBody>
      </p:sp>
      <p:sp>
        <p:nvSpPr>
          <p:cNvPr id="23" name="Autore e data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Autore e data</a:t>
            </a:r>
          </a:p>
        </p:txBody>
      </p:sp>
      <p:sp>
        <p:nvSpPr>
          <p:cNvPr id="24" name="Corpo livello uno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rimo piano visto di una mongolfiera vista dal basso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itolo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Titolo</a:t>
            </a:r>
          </a:p>
        </p:txBody>
      </p:sp>
      <p:sp>
        <p:nvSpPr>
          <p:cNvPr id="34" name="Corpo livello uno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ero diapositiva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d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olo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43" name="Sottotitolo diapositiva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44" name="Corpo livello uno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rpo livello uno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ottotitolo diapositiva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61" name="Corpo livello uno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Mongolfiere viste dal basso con un cielo azzurro sullo sfondo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itolo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6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elenco e diretta picco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ottotitolo diapositiva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72" name="Corpo livello uno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Titolo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7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elenco e dirett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ottotitolo diapositiva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82" name="Corpo livello uno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Titolo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8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zion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olo sezion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Titolo sezione</a:t>
            </a:r>
          </a:p>
        </p:txBody>
      </p:sp>
      <p:sp>
        <p:nvSpPr>
          <p:cNvPr id="92" name="Numero diapositiva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olo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100" name="Sottotitolo diapositiva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10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olo programma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Titolo programma</a:t>
            </a:r>
          </a:p>
        </p:txBody>
      </p:sp>
      <p:sp>
        <p:nvSpPr>
          <p:cNvPr id="109" name="Sottotitolo programma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Sottotitolo programma</a:t>
            </a:r>
          </a:p>
        </p:txBody>
      </p:sp>
      <p:sp>
        <p:nvSpPr>
          <p:cNvPr id="110" name="Corpo livello uno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Argomenti del programma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orpo livello uno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Dichiarazione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orpo livello uno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Dettagli informazione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Dettagli informazione</a:t>
            </a:r>
          </a:p>
        </p:txBody>
      </p:sp>
      <p:sp>
        <p:nvSpPr>
          <p:cNvPr id="128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zione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Attribuzione</a:t>
            </a:r>
          </a:p>
        </p:txBody>
      </p:sp>
      <p:sp>
        <p:nvSpPr>
          <p:cNvPr id="136" name="Corpo livello uno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“Citazione degna di nota”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Mongolfiere viste dal basso con un cielo azzurro sullo sfondo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Primo piano della parte superiore di una mongolfiera vista dall’alto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Mongolfiere viste dal basso con un cielo azzurro sullo sfondo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Mongolfiere viste dal basso con un cielo azzurro sullo sfondo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orpo livello uno…"/>
          <p:cNvSpPr txBox="1"/>
          <p:nvPr>
            <p:ph type="body" sz="quarter" idx="1" hasCustomPrompt="1"/>
          </p:nvPr>
        </p:nvSpPr>
        <p:spPr>
          <a:xfrm>
            <a:off x="1201340" y="11847162"/>
            <a:ext cx="21971004" cy="63698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5pPr>
          </a:lstStyle>
          <a:p>
            <a:pPr/>
            <a:r>
              <a:t>Autore e data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0" name="Titolo presentazion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 defTabSz="2438337"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Titolo presentazione</a:t>
            </a:r>
          </a:p>
        </p:txBody>
      </p:sp>
      <p:sp>
        <p:nvSpPr>
          <p:cNvPr id="171" name="Corpo livello uno…"/>
          <p:cNvSpPr txBox="1"/>
          <p:nvPr>
            <p:ph type="body" sz="quarter" idx="21" hasCustomPrompt="1"/>
          </p:nvPr>
        </p:nvSpPr>
        <p:spPr>
          <a:xfrm>
            <a:off x="1201342" y="7210490"/>
            <a:ext cx="21971002" cy="190500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</a:lstStyle>
          <a:p>
            <a:pPr/>
            <a:r>
              <a:t>Sottotitolo presentazione</a:t>
            </a:r>
          </a:p>
        </p:txBody>
      </p:sp>
      <p:sp>
        <p:nvSpPr>
          <p:cNvPr id="172" name="Numero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itolo"/>
          <p:cNvSpPr txBox="1"/>
          <p:nvPr>
            <p:ph type="title" hasCustomPrompt="1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>
            <a:lvl1pPr defTabSz="2438337">
              <a:defRPr spc="-170"/>
            </a:lvl1pPr>
          </a:lstStyle>
          <a:p>
            <a:pPr/>
            <a:r>
              <a:t>Titolo</a:t>
            </a:r>
          </a:p>
        </p:txBody>
      </p:sp>
      <p:sp>
        <p:nvSpPr>
          <p:cNvPr id="180" name="Corpo livello uno…"/>
          <p:cNvSpPr txBox="1"/>
          <p:nvPr>
            <p:ph type="body" sz="quarter" idx="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1" name="Numero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punti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orpo livello uno…"/>
          <p:cNvSpPr txBox="1"/>
          <p:nvPr>
            <p:ph type="body" sz="quarter" idx="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9" name="Corpo livello uno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/>
          <a:lstStyle>
            <a:lvl1pPr defTabSz="2438337"/>
          </a:lstStyle>
          <a:p>
            <a:pPr/>
            <a:r>
              <a:t>Testo elenco puntato diapositiva</a:t>
            </a:r>
          </a:p>
        </p:txBody>
      </p:sp>
      <p:sp>
        <p:nvSpPr>
          <p:cNvPr id="190" name="617931575_1991x1322.jpg"/>
          <p:cNvSpPr/>
          <p:nvPr>
            <p:ph type="pic" idx="22"/>
          </p:nvPr>
        </p:nvSpPr>
        <p:spPr>
          <a:xfrm>
            <a:off x="8432800" y="1263847"/>
            <a:ext cx="16850011" cy="111882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91" name="Titolo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>
            <a:lvl1pPr defTabSz="2438337">
              <a:defRPr spc="-170"/>
            </a:lvl1pPr>
          </a:lstStyle>
          <a:p>
            <a:pPr/>
            <a:r>
              <a:t>Titolo</a:t>
            </a:r>
          </a:p>
        </p:txBody>
      </p:sp>
      <p:sp>
        <p:nvSpPr>
          <p:cNvPr id="192" name="Numero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orpo livello uno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 defTabSz="2438337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 defTabSz="2438337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 defTabSz="2438337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 defTabSz="2438337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 defTabSz="2438337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Dichiarazione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00" name="Numero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olo"/>
          <p:cNvSpPr txBox="1"/>
          <p:nvPr>
            <p:ph type="title" hasCustomPrompt="1"/>
          </p:nvPr>
        </p:nvSpPr>
        <p:spPr>
          <a:xfrm>
            <a:off x="1206500" y="952500"/>
            <a:ext cx="21971000" cy="1433164"/>
          </a:xfrm>
          <a:prstGeom prst="rect">
            <a:avLst/>
          </a:prstGeom>
        </p:spPr>
        <p:txBody>
          <a:bodyPr/>
          <a:lstStyle>
            <a:lvl1pPr defTabSz="2438337">
              <a:defRPr spc="-170"/>
            </a:lvl1pPr>
          </a:lstStyle>
          <a:p>
            <a:pPr/>
            <a:r>
              <a:t>Titolo</a:t>
            </a:r>
          </a:p>
        </p:txBody>
      </p:sp>
      <p:sp>
        <p:nvSpPr>
          <p:cNvPr id="208" name="Corpo livello uno…"/>
          <p:cNvSpPr txBox="1"/>
          <p:nvPr>
            <p:ph type="body" sz="quarter" idx="1" hasCustomPrompt="1"/>
          </p:nvPr>
        </p:nvSpPr>
        <p:spPr>
          <a:xfrm>
            <a:off x="1206500" y="2245961"/>
            <a:ext cx="21971000" cy="934781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09" name="Corpo livello uno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/>
          <a:lstStyle>
            <a:lvl1pPr defTabSz="2438337"/>
          </a:lstStyle>
          <a:p>
            <a:pPr/>
            <a:r>
              <a:t>Testo elenco puntato diapositiva</a:t>
            </a:r>
          </a:p>
        </p:txBody>
      </p:sp>
      <p:sp>
        <p:nvSpPr>
          <p:cNvPr id="210" name="Numero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Titolo</a:t>
            </a:r>
          </a:p>
        </p:txBody>
      </p:sp>
      <p:sp>
        <p:nvSpPr>
          <p:cNvPr id="3" name="Corpo livello uno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7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5.jpe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5.jpe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Di Caprio Alessio 0512119548…"/>
          <p:cNvSpPr txBox="1"/>
          <p:nvPr>
            <p:ph type="body" sz="quarter" idx="1"/>
          </p:nvPr>
        </p:nvSpPr>
        <p:spPr>
          <a:xfrm>
            <a:off x="1201341" y="11255792"/>
            <a:ext cx="21971002" cy="1228350"/>
          </a:xfrm>
          <a:prstGeom prst="rect">
            <a:avLst/>
          </a:prstGeom>
        </p:spPr>
        <p:txBody>
          <a:bodyPr/>
          <a:lstStyle/>
          <a:p>
            <a:pPr defTabSz="569594">
              <a:defRPr sz="2400"/>
            </a:pPr>
            <a:r>
              <a:t>Di Caprio Alessio	0512119548</a:t>
            </a:r>
          </a:p>
          <a:p>
            <a:pPr defTabSz="569594">
              <a:defRPr sz="2400"/>
            </a:pPr>
            <a:r>
              <a:t>Iaquino Sabato		0512123029</a:t>
            </a:r>
          </a:p>
          <a:p>
            <a:pPr defTabSz="569594">
              <a:defRPr sz="2400"/>
            </a:pPr>
            <a:r>
              <a:t>Vietri Eugenio		0512120145</a:t>
            </a:r>
          </a:p>
        </p:txBody>
      </p:sp>
      <p:sp>
        <p:nvSpPr>
          <p:cNvPr id="220" name="Progetto di IUM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ExploreSite</a:t>
            </a:r>
          </a:p>
        </p:txBody>
      </p:sp>
      <p:sp>
        <p:nvSpPr>
          <p:cNvPr id="221" name="Gruppo 14"/>
          <p:cNvSpPr txBox="1"/>
          <p:nvPr/>
        </p:nvSpPr>
        <p:spPr>
          <a:xfrm>
            <a:off x="1201342" y="7210490"/>
            <a:ext cx="21971002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5500">
                <a:solidFill>
                  <a:schemeClr val="accent1"/>
                </a:solidFill>
              </a:defRPr>
            </a:pPr>
            <a:r>
              <a:t>Progetto di IUM - Gruppo 14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5500">
                <a:solidFill>
                  <a:schemeClr val="accent1"/>
                </a:solidFill>
              </a:defRPr>
            </a:pPr>
            <a:r>
              <a:t>Presentazione #4 assignment</a:t>
            </a:r>
          </a:p>
        </p:txBody>
      </p:sp>
      <p:pic>
        <p:nvPicPr>
          <p:cNvPr id="222" name="WhatsApp Image 2026-05-27 at 22.58.23(1).png" descr="WhatsApp Image 2026-05-27 at 22.58.23(1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28963" y="3527084"/>
            <a:ext cx="6350001" cy="66618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Ind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Indice</a:t>
            </a:r>
          </a:p>
        </p:txBody>
      </p:sp>
      <p:sp>
        <p:nvSpPr>
          <p:cNvPr id="225" name="Chi siamo?…"/>
          <p:cNvSpPr txBox="1"/>
          <p:nvPr>
            <p:ph type="body" sz="half" idx="1"/>
          </p:nvPr>
        </p:nvSpPr>
        <p:spPr>
          <a:xfrm>
            <a:off x="1206500" y="2457840"/>
            <a:ext cx="11431807" cy="10046677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Qual è il problema?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Soluzione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Da qui nasce ExploreSite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Cosa offre ExploreSite</a:t>
            </a:r>
          </a:p>
        </p:txBody>
      </p:sp>
      <p:sp>
        <p:nvSpPr>
          <p:cNvPr id="226" name="Gli altri sistemi risolvono il problema?…"/>
          <p:cNvSpPr txBox="1"/>
          <p:nvPr/>
        </p:nvSpPr>
        <p:spPr>
          <a:xfrm>
            <a:off x="12196082" y="2457840"/>
            <a:ext cx="11431807" cy="10046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defTabSz="2438337">
              <a:buSzPct val="123000"/>
              <a:buChar char="•"/>
            </a:pPr>
            <a:r>
              <a:t>ExploreSite risolve il problema?</a:t>
            </a:r>
          </a:p>
          <a:p>
            <a:pPr marL="609600" indent="-609600" defTabSz="2438337">
              <a:buSzPct val="123000"/>
              <a:buChar char="•"/>
            </a:pPr>
            <a:r>
              <a:t>Risultato del testing utente</a:t>
            </a:r>
          </a:p>
          <a:p>
            <a:pPr marL="609600" indent="-609600" defTabSz="2438337">
              <a:buSzPct val="123000"/>
              <a:buChar char="•"/>
            </a:pPr>
            <a:r>
              <a:t>Empowerment vs. Testing utente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sh dir="u"/>
      </p:transition>
    </mc:Choice>
    <mc:Fallback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erchio"/>
          <p:cNvSpPr/>
          <p:nvPr/>
        </p:nvSpPr>
        <p:spPr>
          <a:xfrm>
            <a:off x="17014922" y="3579495"/>
            <a:ext cx="5080003" cy="5080003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  <a:effectLst>
            <a:outerShdw sx="100000" sy="100000" kx="0" ky="0" algn="b" rotWithShape="0" blurRad="190500" dist="0" dir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9" name="Cerchio"/>
          <p:cNvSpPr/>
          <p:nvPr/>
        </p:nvSpPr>
        <p:spPr>
          <a:xfrm>
            <a:off x="2289076" y="3579495"/>
            <a:ext cx="5080003" cy="5080003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  <a:effectLst>
            <a:outerShdw sx="100000" sy="100000" kx="0" ky="0" algn="b" rotWithShape="0" blurRad="190500" dist="0" dir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0" name="Cerchio"/>
          <p:cNvSpPr/>
          <p:nvPr/>
        </p:nvSpPr>
        <p:spPr>
          <a:xfrm>
            <a:off x="9652000" y="3579495"/>
            <a:ext cx="5080000" cy="5080003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  <a:effectLst>
            <a:outerShdw sx="100000" sy="100000" kx="0" ky="0" algn="b" rotWithShape="0" blurRad="190500" dist="0" dir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1" name="Chi siamo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Chi siamo?</a:t>
            </a:r>
          </a:p>
        </p:txBody>
      </p:sp>
      <p:sp>
        <p:nvSpPr>
          <p:cNvPr id="232" name="Di Caprio Alessio…"/>
          <p:cNvSpPr txBox="1"/>
          <p:nvPr/>
        </p:nvSpPr>
        <p:spPr>
          <a:xfrm>
            <a:off x="3425473" y="8887225"/>
            <a:ext cx="2807209" cy="1197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7">
              <a:lnSpc>
                <a:spcPct val="100000"/>
              </a:lnSpc>
              <a:spcBef>
                <a:spcPts val="0"/>
              </a:spcBef>
              <a:defRPr b="1" sz="2400">
                <a:solidFill>
                  <a:srgbClr val="5E5E5E"/>
                </a:solidFill>
              </a:defRPr>
            </a:pPr>
            <a:r>
              <a:t>Di Caprio Alessio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0512119548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Manager del design</a:t>
            </a:r>
          </a:p>
        </p:txBody>
      </p:sp>
      <p:sp>
        <p:nvSpPr>
          <p:cNvPr id="233" name="Iaquino Sabato…"/>
          <p:cNvSpPr txBox="1"/>
          <p:nvPr/>
        </p:nvSpPr>
        <p:spPr>
          <a:xfrm>
            <a:off x="9089135" y="8887225"/>
            <a:ext cx="6205729" cy="1197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7">
              <a:lnSpc>
                <a:spcPct val="100000"/>
              </a:lnSpc>
              <a:spcBef>
                <a:spcPts val="0"/>
              </a:spcBef>
              <a:defRPr b="1" sz="2400">
                <a:solidFill>
                  <a:srgbClr val="5E5E5E"/>
                </a:solidFill>
              </a:defRPr>
            </a:pPr>
            <a:r>
              <a:t>Iaquino Sabato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0512123029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Manager del gruppo e della documentazione</a:t>
            </a:r>
          </a:p>
        </p:txBody>
      </p:sp>
      <p:sp>
        <p:nvSpPr>
          <p:cNvPr id="234" name="Vietri Eugenio…"/>
          <p:cNvSpPr txBox="1"/>
          <p:nvPr/>
        </p:nvSpPr>
        <p:spPr>
          <a:xfrm>
            <a:off x="17722617" y="8887225"/>
            <a:ext cx="3664612" cy="1197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7">
              <a:lnSpc>
                <a:spcPct val="100000"/>
              </a:lnSpc>
              <a:spcBef>
                <a:spcPts val="0"/>
              </a:spcBef>
              <a:defRPr b="1" sz="2400">
                <a:solidFill>
                  <a:srgbClr val="5E5E5E"/>
                </a:solidFill>
              </a:defRPr>
            </a:pPr>
            <a:r>
              <a:t>Vietri Eugenio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0512120145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Manager della valutazione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sh dir="u"/>
      </p:transition>
    </mc:Choice>
    <mc:Fallback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Qual è il problema?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Qual è il problema?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sh dir="u"/>
      </p:transition>
    </mc:Choice>
    <mc:Fallback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Non sempre è facile pianificare una visita: alcune informazioni dei siti culturali, come gli orari d’apertura o dove acquistare i biglietti, sono difficili da ottenere rapidamente.…"/>
          <p:cNvSpPr txBox="1"/>
          <p:nvPr>
            <p:ph type="body" sz="half" idx="1"/>
          </p:nvPr>
        </p:nvSpPr>
        <p:spPr>
          <a:xfrm>
            <a:off x="1206500" y="3205015"/>
            <a:ext cx="9779000" cy="9300120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2438337">
              <a:lnSpc>
                <a:spcPct val="90000"/>
              </a:lnSpc>
              <a:spcBef>
                <a:spcPts val="4500"/>
              </a:spcBef>
              <a:defRPr sz="4000"/>
            </a:pPr>
            <a:r>
              <a:t>Non sempre è facile</a:t>
            </a:r>
            <a:r>
              <a:rPr b="0"/>
              <a:t> pianificare una visita: alcune informazioni dei siti culturali, come gli orari d’apertura o dove acquistare i biglietti, sono </a:t>
            </a:r>
            <a:r>
              <a:t>difficili</a:t>
            </a:r>
            <a:r>
              <a:rPr b="0"/>
              <a:t> da ottenere rapidamente.</a:t>
            </a:r>
            <a:endParaRPr b="0"/>
          </a:p>
          <a:p>
            <a:pPr defTabSz="2438337">
              <a:lnSpc>
                <a:spcPct val="90000"/>
              </a:lnSpc>
              <a:spcBef>
                <a:spcPts val="4500"/>
              </a:spcBef>
              <a:defRPr b="0" sz="4000"/>
            </a:pPr>
          </a:p>
          <a:p>
            <a:pPr defTabSz="2438337">
              <a:lnSpc>
                <a:spcPct val="90000"/>
              </a:lnSpc>
              <a:spcBef>
                <a:spcPts val="4500"/>
              </a:spcBef>
              <a:defRPr sz="4000"/>
            </a:pPr>
            <a:r>
              <a:t>Soluzione:</a:t>
            </a:r>
            <a:r>
              <a:rPr b="0"/>
              <a:t> progettare uno strumento intuitivo ed accessibile per scoprire </a:t>
            </a:r>
            <a:r>
              <a:t>facilmente</a:t>
            </a:r>
            <a:r>
              <a:rPr b="0"/>
              <a:t> i siti culturali che ci circondano, rendendo </a:t>
            </a:r>
            <a:r>
              <a:t>immediata</a:t>
            </a:r>
            <a:r>
              <a:rPr b="0"/>
              <a:t> la consultazione delle informazioni.</a:t>
            </a:r>
          </a:p>
        </p:txBody>
      </p:sp>
      <p:pic>
        <p:nvPicPr>
          <p:cNvPr id="239" name="mael-balland-KqbPQzD2R5o-unsplash.jpg" descr="mael-balland-KqbPQzD2R5o-unsplash.jp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20799" t="0" r="14150" b="0"/>
          <a:stretch>
            <a:fillRect/>
          </a:stretch>
        </p:blipFill>
        <p:spPr>
          <a:xfrm>
            <a:off x="12192000" y="1263847"/>
            <a:ext cx="10916874" cy="11188206"/>
          </a:xfrm>
          <a:prstGeom prst="rect">
            <a:avLst/>
          </a:prstGeom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sp>
        <p:nvSpPr>
          <p:cNvPr id="240" name="Qual è il problem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Qual è il problema?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Char"/>
      </p:transition>
    </mc:Choice>
    <mc:Fallback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Soluzione</a:t>
            </a:r>
          </a:p>
        </p:txBody>
      </p:sp>
      <p:sp>
        <p:nvSpPr>
          <p:cNvPr id="243" name="Creare, condividere e…"/>
          <p:cNvSpPr txBox="1"/>
          <p:nvPr/>
        </p:nvSpPr>
        <p:spPr>
          <a:xfrm>
            <a:off x="10069828" y="7623771"/>
            <a:ext cx="4244341" cy="1199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Creare, condividere e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seguire </a:t>
            </a:r>
            <a:r>
              <a:rPr b="1"/>
              <a:t>itinerari</a:t>
            </a:r>
            <a:r>
              <a:t> personalizzati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dalla community</a:t>
            </a:r>
          </a:p>
        </p:txBody>
      </p:sp>
      <p:pic>
        <p:nvPicPr>
          <p:cNvPr id="244" name="info.png" descr="inf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600" y="3807552"/>
            <a:ext cx="3251200" cy="325120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0" dir="0">
              <a:srgbClr val="000000">
                <a:alpha val="50000"/>
              </a:srgbClr>
            </a:outerShdw>
          </a:effectLst>
        </p:spPr>
      </p:pic>
      <p:pic>
        <p:nvPicPr>
          <p:cNvPr id="245" name="distance.png" descr="distanc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66400" y="3807552"/>
            <a:ext cx="3251200" cy="325120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0" dir="0">
              <a:srgbClr val="000000">
                <a:alpha val="50000"/>
              </a:srgbClr>
            </a:outerShdw>
          </a:effectLst>
        </p:spPr>
      </p:pic>
      <p:pic>
        <p:nvPicPr>
          <p:cNvPr id="246" name="joystick.png" descr="joystick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475200" y="3807552"/>
            <a:ext cx="3251200" cy="325120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90500" dist="0" dir="0">
              <a:srgbClr val="000000">
                <a:alpha val="50000"/>
              </a:srgbClr>
            </a:outerShdw>
          </a:effectLst>
        </p:spPr>
      </p:pic>
      <p:sp>
        <p:nvSpPr>
          <p:cNvPr id="247" name="Accorpare le informazioni…"/>
          <p:cNvSpPr txBox="1"/>
          <p:nvPr/>
        </p:nvSpPr>
        <p:spPr>
          <a:xfrm>
            <a:off x="3346653" y="7623771"/>
            <a:ext cx="3873094" cy="1199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Accorpare le </a:t>
            </a:r>
            <a:r>
              <a:rPr b="1"/>
              <a:t>informazioni</a:t>
            </a:r>
            <a:endParaRPr b="1"/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(orari, accessibilità, biglietti)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in un’unica scheda.</a:t>
            </a:r>
          </a:p>
        </p:txBody>
      </p:sp>
      <p:sp>
        <p:nvSpPr>
          <p:cNvPr id="248" name="Rendere l’esplorazione e…"/>
          <p:cNvSpPr txBox="1"/>
          <p:nvPr/>
        </p:nvSpPr>
        <p:spPr>
          <a:xfrm>
            <a:off x="17364505" y="7623771"/>
            <a:ext cx="3472588" cy="1199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Rendere l’esplorazione e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la cultura un </a:t>
            </a:r>
            <a:r>
              <a:rPr b="1"/>
              <a:t>gioco</a:t>
            </a:r>
            <a:r>
              <a:t> con</a:t>
            </a:r>
          </a:p>
          <a:p>
            <a:pPr algn="ctr" defTabSz="2438337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r>
              <a:t>livelli ed achievement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sh dir="u"/>
      </p:transition>
    </mc:Choice>
    <mc:Fallback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Da qui nasce ExploreSite"/>
          <p:cNvSpPr txBox="1"/>
          <p:nvPr>
            <p:ph type="body" sz="half" idx="1"/>
          </p:nvPr>
        </p:nvSpPr>
        <p:spPr>
          <a:xfrm>
            <a:off x="1206500" y="2689511"/>
            <a:ext cx="21971001" cy="3874313"/>
          </a:xfrm>
          <a:prstGeom prst="rect">
            <a:avLst/>
          </a:prstGeom>
        </p:spPr>
        <p:txBody>
          <a:bodyPr/>
          <a:lstStyle/>
          <a:p>
            <a:pPr algn="l"/>
            <a:r>
              <a:t>Da qui nasce</a:t>
            </a:r>
            <a:br/>
            <a:r>
              <a:t>ExploreSite</a:t>
            </a:r>
          </a:p>
        </p:txBody>
      </p:sp>
      <p:pic>
        <p:nvPicPr>
          <p:cNvPr id="251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00000">
            <a:off x="12102190" y="-95439"/>
            <a:ext cx="8754538" cy="14887678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Screenshot_20260727-104356.png" descr="Screenshot_20260727-10435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1200000">
            <a:off x="13725594" y="1492209"/>
            <a:ext cx="6154002" cy="109404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sh dir="u"/>
      </p:transition>
    </mc:Choice>
    <mc:Fallback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255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256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7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" name="Screenshot_20260727-104356.png" descr="Screenshot_20260727-10435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80102" y="1316373"/>
            <a:ext cx="6154003" cy="109404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260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261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Screenshot_20260727-104356.png" descr="Screenshot_20260727-10435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80102" y="1316373"/>
            <a:ext cx="6154003" cy="10940449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Rettangolo"/>
          <p:cNvSpPr/>
          <p:nvPr/>
        </p:nvSpPr>
        <p:spPr>
          <a:xfrm>
            <a:off x="16751541" y="1260516"/>
            <a:ext cx="6211125" cy="1720082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4" name="Rettangolo"/>
          <p:cNvSpPr/>
          <p:nvPr/>
        </p:nvSpPr>
        <p:spPr>
          <a:xfrm>
            <a:off x="16751541" y="5109066"/>
            <a:ext cx="6211125" cy="7203612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267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>
              <a:defRPr b="1"/>
            </a:pPr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268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" name="Screenshot_20260727-104714.png" descr="Screenshot_20260727-10471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76700" y="1320800"/>
            <a:ext cx="6159500" cy="109502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272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>
              <a:defRPr b="1"/>
            </a:pPr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273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Screenshot_20260727-104735.png" descr="Screenshot_20260727-10473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76700" y="1320800"/>
            <a:ext cx="6159501" cy="109502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277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>
              <a:defRPr b="1"/>
            </a:pPr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278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Screenshot_20260727-104735.png" descr="Screenshot_20260727-10473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767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Rettangolo"/>
          <p:cNvSpPr/>
          <p:nvPr/>
        </p:nvSpPr>
        <p:spPr>
          <a:xfrm>
            <a:off x="16751541" y="1260516"/>
            <a:ext cx="6211125" cy="3630934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1" name="Rettangolo"/>
          <p:cNvSpPr/>
          <p:nvPr/>
        </p:nvSpPr>
        <p:spPr>
          <a:xfrm>
            <a:off x="16751541" y="7958112"/>
            <a:ext cx="6211125" cy="4354566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284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>
              <a:defRPr b="1"/>
            </a:pPr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285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Screenshot_20260727-104735.png" descr="Screenshot_20260727-10473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767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Rettangolo"/>
          <p:cNvSpPr/>
          <p:nvPr/>
        </p:nvSpPr>
        <p:spPr>
          <a:xfrm>
            <a:off x="16751541" y="1260516"/>
            <a:ext cx="6211125" cy="3647484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8" name="Rettangolo"/>
          <p:cNvSpPr/>
          <p:nvPr/>
        </p:nvSpPr>
        <p:spPr>
          <a:xfrm>
            <a:off x="16751541" y="5507995"/>
            <a:ext cx="6211125" cy="6804683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9" name="Rettangolo"/>
          <p:cNvSpPr/>
          <p:nvPr/>
        </p:nvSpPr>
        <p:spPr>
          <a:xfrm>
            <a:off x="16750888" y="4909012"/>
            <a:ext cx="4312090" cy="599943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292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>
              <a:defRPr b="1"/>
            </a:pPr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293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Screenshot_20260727-104738.png" descr="Screenshot_20260727-10473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640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297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>
              <a:defRPr b="1"/>
            </a:pPr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298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" name="Screenshot_20260727-104735.png" descr="Screenshot_20260727-10473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767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Rettangolo"/>
          <p:cNvSpPr/>
          <p:nvPr/>
        </p:nvSpPr>
        <p:spPr>
          <a:xfrm>
            <a:off x="16751541" y="1260516"/>
            <a:ext cx="6211125" cy="4805415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1" name="Rettangolo"/>
          <p:cNvSpPr/>
          <p:nvPr/>
        </p:nvSpPr>
        <p:spPr>
          <a:xfrm>
            <a:off x="16751541" y="7059210"/>
            <a:ext cx="6211125" cy="5253468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2" name="Rettangolo"/>
          <p:cNvSpPr/>
          <p:nvPr/>
        </p:nvSpPr>
        <p:spPr>
          <a:xfrm>
            <a:off x="16769774" y="6065178"/>
            <a:ext cx="3890483" cy="994061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305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>
              <a:defRPr b="1"/>
            </a:pPr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306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Screenshot_20260727-104749.png" descr="Screenshot_20260727-10474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640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310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>
              <a:defRPr b="1"/>
            </a:pPr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311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Screenshot_20260727-104913.png" descr="Screenshot_20260727-10491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640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315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>
              <a:defRPr b="1"/>
            </a:pPr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316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7" name="Screenshot_20260727-104915.png" descr="Screenshot_20260727-10491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640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320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>
              <a:defRPr b="1"/>
            </a:pPr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321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2" name="Screenshot_20260727-104918.png" descr="Screenshot_20260727-10491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640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325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>
              <a:defRPr b="1"/>
            </a:pPr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326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Screenshot_20260727-104932.png" descr="Screenshot_20260727-10493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640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330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>
              <a:defRPr b="1"/>
            </a:pPr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331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" name="Screenshot_20260727-104932.png" descr="Screenshot_20260727-10493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640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Rettangolo"/>
          <p:cNvSpPr/>
          <p:nvPr/>
        </p:nvSpPr>
        <p:spPr>
          <a:xfrm>
            <a:off x="16751541" y="1260516"/>
            <a:ext cx="6211125" cy="4428712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4" name="Rettangolo"/>
          <p:cNvSpPr/>
          <p:nvPr/>
        </p:nvSpPr>
        <p:spPr>
          <a:xfrm>
            <a:off x="16751541" y="8311903"/>
            <a:ext cx="6211125" cy="4000775"/>
          </a:xfrm>
          <a:prstGeom prst="rect">
            <a:avLst/>
          </a:prstGeom>
          <a:solidFill>
            <a:srgbClr val="000000">
              <a:alpha val="4039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7" name="Screenshot_20260727-104957.png" descr="Screenshot_20260727-10495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640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339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>
              <a:defRPr b="1"/>
            </a:pPr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342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>
              <a:defRPr b="1"/>
            </a:pPr>
            <a:r>
              <a:t>Puoi creare i tuoi itinerari</a:t>
            </a:r>
          </a:p>
          <a:p>
            <a:pPr/>
            <a:r>
              <a:t>Rende l’esplorazione un gioco</a:t>
            </a:r>
          </a:p>
        </p:txBody>
      </p:sp>
      <p:pic>
        <p:nvPicPr>
          <p:cNvPr id="343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4" name="Screenshot_20260727-105054.png" descr="Screenshot_20260727-10505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640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olu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Cosa offre ExploreSite</a:t>
            </a:r>
          </a:p>
        </p:txBody>
      </p:sp>
      <p:sp>
        <p:nvSpPr>
          <p:cNvPr id="347" name="Suggerisce cosa hai vicino…"/>
          <p:cNvSpPr txBox="1"/>
          <p:nvPr>
            <p:ph type="body" idx="1"/>
          </p:nvPr>
        </p:nvSpPr>
        <p:spPr>
          <a:xfrm>
            <a:off x="1206500" y="2689409"/>
            <a:ext cx="14249256" cy="9815107"/>
          </a:xfrm>
          <a:prstGeom prst="rect">
            <a:avLst/>
          </a:prstGeom>
        </p:spPr>
        <p:txBody>
          <a:bodyPr/>
          <a:lstStyle/>
          <a:p>
            <a:pPr/>
            <a:r>
              <a:t>Suggerisce cosa hai vicino</a:t>
            </a:r>
          </a:p>
          <a:p>
            <a:pPr/>
            <a:r>
              <a:t>Permette di conoscere il territorio attorno a te</a:t>
            </a:r>
          </a:p>
          <a:p>
            <a:pPr/>
            <a:r>
              <a:t>Permette di conoscere le informazioni sui punti di interesse</a:t>
            </a:r>
          </a:p>
          <a:p>
            <a:pPr/>
            <a:r>
              <a:t>Permette di scoprire le chicche del posto</a:t>
            </a:r>
          </a:p>
          <a:p>
            <a:pPr/>
            <a:r>
              <a:t>Trova itinerari per scoprire i territori</a:t>
            </a:r>
          </a:p>
          <a:p>
            <a:pPr/>
            <a:r>
              <a:t>Puoi creare i tuoi itinerari</a:t>
            </a:r>
          </a:p>
          <a:p>
            <a:pPr>
              <a:defRPr b="1"/>
            </a:pPr>
            <a:r>
              <a:t>Rende l’esplorazione un gioco</a:t>
            </a:r>
          </a:p>
        </p:txBody>
      </p:sp>
      <p:pic>
        <p:nvPicPr>
          <p:cNvPr id="348" name="1554231535.svg" descr="1554231535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79608" y="-166842"/>
            <a:ext cx="8754538" cy="148876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Screenshot_20260727-105100.png" descr="Screenshot_20260727-10510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64000" y="1320800"/>
            <a:ext cx="6159500" cy="109502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Qual è il problema?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ExploreSite risolve il problema?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sh dir="u"/>
      </p:transition>
    </mc:Choice>
    <mc:Fallback>
      <p:transition spd="fast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Non sempre è facile pianificare una visita: alcune informazioni dei siti culturali, come gli orari d’apertura o dove acquistare i biglietti, sono difficili da ottenere rapidamente.…"/>
          <p:cNvSpPr txBox="1"/>
          <p:nvPr>
            <p:ph type="body" sz="half" idx="1"/>
          </p:nvPr>
        </p:nvSpPr>
        <p:spPr>
          <a:xfrm>
            <a:off x="1206500" y="3205015"/>
            <a:ext cx="9779000" cy="9300120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2438337">
              <a:lnSpc>
                <a:spcPct val="90000"/>
              </a:lnSpc>
              <a:spcBef>
                <a:spcPts val="4500"/>
              </a:spcBef>
              <a:defRPr b="0" sz="4000"/>
            </a:pPr>
            <a:r>
              <a:t>Per capire se ExploreSite </a:t>
            </a:r>
            <a:r>
              <a:rPr b="1"/>
              <a:t>risolve il problema</a:t>
            </a:r>
            <a:r>
              <a:t>, sono state svolte operazioni di </a:t>
            </a:r>
            <a:r>
              <a:rPr b="1"/>
              <a:t>testing utente con utenti reali</a:t>
            </a:r>
            <a:r>
              <a:t> ed affini a viaggiare e a scoprire il territorio attorno a loro.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defRPr b="0" sz="4000"/>
            </a:pPr>
          </a:p>
          <a:p>
            <a:pPr defTabSz="2438337">
              <a:lnSpc>
                <a:spcPct val="90000"/>
              </a:lnSpc>
              <a:spcBef>
                <a:spcPts val="4500"/>
              </a:spcBef>
              <a:defRPr b="0" sz="4000"/>
            </a:pPr>
            <a:r>
              <a:t>Il testing è stato svolto offrendo a loro il </a:t>
            </a:r>
            <a:r>
              <a:rPr b="1"/>
              <a:t>contesto</a:t>
            </a:r>
            <a:r>
              <a:t> del sistema e </a:t>
            </a:r>
            <a:r>
              <a:rPr b="1"/>
              <a:t>dispositivi</a:t>
            </a:r>
            <a:r>
              <a:t> con installato ExploreSite per il testing libero, dopodiché sono stati sottoposti ad un </a:t>
            </a:r>
            <a:r>
              <a:rPr b="1"/>
              <a:t>questionario di valutazione della soddisfazione</a:t>
            </a:r>
            <a:r>
              <a:t>.</a:t>
            </a:r>
          </a:p>
        </p:txBody>
      </p:sp>
      <p:pic>
        <p:nvPicPr>
          <p:cNvPr id="354" name="UserTesting-Introduces-New-Test-Templates-That-Enable-Companies-to-Understand-Human-Interactions-with-Connected-Devices-and-the-Internet-of-Things-IoT 2.jpg" descr="UserTesting-Introduces-New-Test-Templates-That-Enable-Companies-to-Understand-Human-Interactions-with-Connected-Devices-and-the-Internet-of-Things-IoT 2.jp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22424" t="0" r="22424" b="0"/>
          <a:stretch>
            <a:fillRect/>
          </a:stretch>
        </p:blipFill>
        <p:spPr>
          <a:xfrm>
            <a:off x="12811813" y="2534285"/>
            <a:ext cx="9677248" cy="9917768"/>
          </a:xfrm>
          <a:prstGeom prst="rect">
            <a:avLst/>
          </a:prstGeom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sp>
        <p:nvSpPr>
          <p:cNvPr id="355" name="Qual è il problema?"/>
          <p:cNvSpPr txBox="1"/>
          <p:nvPr>
            <p:ph type="title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ExploreSite risolve il problema?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Char"/>
      </p:transition>
    </mc:Choice>
    <mc:Fallback>
      <p:transition spd="fast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Non sempre è facile pianificare una visita: alcune informazioni dei siti culturali, come gli orari d’apertura o dove acquistare i biglietti, sono difficili da ottenere rapidamente.…"/>
          <p:cNvSpPr txBox="1"/>
          <p:nvPr>
            <p:ph type="body" sz="half" idx="1"/>
          </p:nvPr>
        </p:nvSpPr>
        <p:spPr>
          <a:xfrm>
            <a:off x="1206500" y="3205015"/>
            <a:ext cx="9779000" cy="9300120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2438337">
              <a:lnSpc>
                <a:spcPct val="90000"/>
              </a:lnSpc>
              <a:spcBef>
                <a:spcPts val="4500"/>
              </a:spcBef>
              <a:defRPr b="0" sz="4000"/>
            </a:pPr>
            <a:r>
              <a:t>Gli utenti sottoposti al testing si sono rilevati </a:t>
            </a:r>
            <a:r>
              <a:rPr b="1"/>
              <a:t>interessati</a:t>
            </a:r>
            <a:r>
              <a:t> all’applicazione e alle sue funzionalità: in particolare hanno apprezzato molto il sistema di </a:t>
            </a:r>
            <a:r>
              <a:rPr b="1"/>
              <a:t>gamification</a:t>
            </a:r>
            <a:r>
              <a:t> e le informazioni </a:t>
            </a:r>
            <a:r>
              <a:rPr b="1"/>
              <a:t>dettagliate</a:t>
            </a:r>
            <a:r>
              <a:t> alla pressione della loro versione sintetiche.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defRPr b="0" sz="4000"/>
            </a:pPr>
          </a:p>
          <a:p>
            <a:pPr defTabSz="2438337">
              <a:lnSpc>
                <a:spcPct val="90000"/>
              </a:lnSpc>
              <a:spcBef>
                <a:spcPts val="4500"/>
              </a:spcBef>
              <a:defRPr b="0" sz="4000"/>
            </a:pPr>
            <a:r>
              <a:t>Anche il sistema di </a:t>
            </a:r>
            <a:r>
              <a:rPr b="1"/>
              <a:t>traduzione in tempo</a:t>
            </a:r>
            <a:r>
              <a:t> reale è stato </a:t>
            </a:r>
            <a:r>
              <a:rPr b="1"/>
              <a:t>apprezzato</a:t>
            </a:r>
            <a:r>
              <a:t>, tuttavia il sistema di traduzione utilizzato </a:t>
            </a:r>
            <a:r>
              <a:rPr b="1"/>
              <a:t>non</a:t>
            </a:r>
            <a:r>
              <a:t> era così preciso da generare contenuti </a:t>
            </a:r>
            <a:r>
              <a:rPr b="1"/>
              <a:t>perfettamente corretti</a:t>
            </a:r>
            <a:r>
              <a:t>.</a:t>
            </a:r>
          </a:p>
        </p:txBody>
      </p:sp>
      <p:pic>
        <p:nvPicPr>
          <p:cNvPr id="358" name="UserTesting-Introduces-New-Test-Templates-That-Enable-Companies-to-Understand-Human-Interactions-with-Connected-Devices-and-the-Internet-of-Things-IoT 2.jpg" descr="UserTesting-Introduces-New-Test-Templates-That-Enable-Companies-to-Understand-Human-Interactions-with-Connected-Devices-and-the-Internet-of-Things-IoT 2.jp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22424" t="0" r="22424" b="0"/>
          <a:stretch>
            <a:fillRect/>
          </a:stretch>
        </p:blipFill>
        <p:spPr>
          <a:xfrm>
            <a:off x="12811813" y="2534285"/>
            <a:ext cx="9677247" cy="9917768"/>
          </a:xfrm>
          <a:prstGeom prst="rect">
            <a:avLst/>
          </a:prstGeom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sp>
        <p:nvSpPr>
          <p:cNvPr id="359" name="Qual è il problema?"/>
          <p:cNvSpPr txBox="1"/>
          <p:nvPr>
            <p:ph type="title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Risultato del testing utente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sh dir="u"/>
      </p:transition>
    </mc:Choice>
    <mc:Fallback>
      <p:transition spd="fast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Qual è il problema?"/>
          <p:cNvSpPr txBox="1"/>
          <p:nvPr>
            <p:ph type="title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>
              <a:defRPr spc="-200"/>
            </a:pPr>
            <a:r>
              <a:t>Empowerment vs. </a:t>
            </a:r>
            <a:r>
              <a:rPr b="0"/>
              <a:t>Testing utente</a:t>
            </a:r>
          </a:p>
        </p:txBody>
      </p:sp>
      <p:graphicFrame>
        <p:nvGraphicFramePr>
          <p:cNvPr id="362" name="Tabella 1"/>
          <p:cNvGraphicFramePr/>
          <p:nvPr/>
        </p:nvGraphicFramePr>
        <p:xfrm>
          <a:off x="4067624" y="3172380"/>
          <a:ext cx="16248752" cy="730303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82600"/>
                <a:gridCol w="10121900"/>
                <a:gridCol w="1196724"/>
                <a:gridCol w="1356232"/>
                <a:gridCol w="1356232"/>
                <a:gridCol w="1735063"/>
              </a:tblGrid>
              <a:tr h="879631"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Tasks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ASE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AKS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APC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AMOT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Consultare gli orari ufficiali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solidFill>
                            <a:srgbClr val="C53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2.73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Controllare la disponibilità dei biglietti ed i loro prezzi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solidFill>
                            <a:srgbClr val="C53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Consultare le informazioni generali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solidFill>
                            <a:srgbClr val="C53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Ottenere informazioni sull'accessibilità del sito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solidFill>
                            <a:srgbClr val="C53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2.70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3.40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3.10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Traduzione in tempo reale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solidFill>
                            <a:srgbClr val="C53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solidFill>
                            <a:srgbClr val="C53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solidFill>
                            <a:srgbClr val="C53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1.80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Creazione e condivisione di itinerari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3.20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Visualizzazione dei badge distintivi ottenuti e del livello di turista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solidFill>
                            <a:srgbClr val="C53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2.70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Filtrare siti per preferenze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3.70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solidFill>
                            <a:srgbClr val="C53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2.20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Approfondire informazioni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solidFill>
                            <a:srgbClr val="C53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2.80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Consiglire una visita a un sito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3.20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3.20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sh dir="u"/>
      </p:transition>
    </mc:Choice>
    <mc:Fallback>
      <p:transition spd="fast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Qual è il problema?"/>
          <p:cNvSpPr txBox="1"/>
          <p:nvPr>
            <p:ph type="title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>
              <a:defRPr spc="-200"/>
            </a:pPr>
            <a:r>
              <a:rPr b="0"/>
              <a:t>Empowerment</a:t>
            </a:r>
            <a:r>
              <a:t> vs. Testing utente</a:t>
            </a:r>
          </a:p>
        </p:txBody>
      </p:sp>
      <p:graphicFrame>
        <p:nvGraphicFramePr>
          <p:cNvPr id="365" name="Tabella 1"/>
          <p:cNvGraphicFramePr/>
          <p:nvPr/>
        </p:nvGraphicFramePr>
        <p:xfrm>
          <a:off x="4067624" y="3172380"/>
          <a:ext cx="16248752" cy="730303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82600"/>
                <a:gridCol w="10121900"/>
                <a:gridCol w="1196724"/>
                <a:gridCol w="1356232"/>
                <a:gridCol w="1356232"/>
                <a:gridCol w="1735063"/>
              </a:tblGrid>
              <a:tr h="879631"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Tasks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ASE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AKS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APC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7700"/>
                        </a:lnSpc>
                      </a:pPr>
                      <a:r>
                        <a:rPr b="1" sz="4000">
                          <a:solidFill>
                            <a:srgbClr val="0033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AMOT</a:t>
                      </a:r>
                    </a:p>
                  </a:txBody>
                  <a:tcPr marL="0" marR="0" marT="0" marB="0" anchor="ctr" anchorCtr="0" horzOverflow="overflow">
                    <a:solidFill>
                      <a:srgbClr val="CBDEDE"/>
                    </a:solidFill>
                  </a:tcPr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Consultare gli orari ufficiali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4,60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4,20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Controllare la disponibilità dei biglietti ed i loro prezzi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4,40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Consultare le informazioni generali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4,20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Ottenere informazioni sull'accessibilità del sito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4,40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3,90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4,80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Traduzione in tempo reale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3,50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3,90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3,90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Creazione e condivisione di itinerari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4,40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4,60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Visualizzazione dei badge distintivi ottenuti e del livello di turista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4,10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Filtrare siti per preferenze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3,90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4,00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Approfondire informazioni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4,50</a:t>
                      </a:r>
                    </a:p>
                  </a:txBody>
                  <a:tcPr marL="0" marR="0" marT="0" marB="0" anchor="ctr" anchorCtr="0" horzOverflow="overflow"/>
                </a:tc>
              </a:tr>
              <a:tr h="642340"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b="1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Consiglire una visita a un sito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4,00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500"/>
                        </a:lnSpc>
                      </a:pPr>
                      <a:r>
                        <a:rPr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4,20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sh dir="u"/>
      </p:transition>
    </mc:Choice>
    <mc:Fallback>
      <p:transition spd="fast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razie per l’attenzione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pc="-3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Grazie per l’attenzione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sh dir="u"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